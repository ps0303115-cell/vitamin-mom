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q Srivastava" userId="cbb35628eeacb3ad" providerId="LiveId" clId="{62B61153-FF11-43BD-93B1-2757C2E9A611}"/>
    <pc:docChg chg="custSel modSld">
      <pc:chgData name="Tanishq Srivastava" userId="cbb35628eeacb3ad" providerId="LiveId" clId="{62B61153-FF11-43BD-93B1-2757C2E9A611}" dt="2026-06-20T04:28:38.557" v="19" actId="14100"/>
      <pc:docMkLst>
        <pc:docMk/>
      </pc:docMkLst>
      <pc:sldChg chg="modSp mod">
        <pc:chgData name="Tanishq Srivastava" userId="cbb35628eeacb3ad" providerId="LiveId" clId="{62B61153-FF11-43BD-93B1-2757C2E9A611}" dt="2026-06-20T04:28:38.557" v="19" actId="14100"/>
        <pc:sldMkLst>
          <pc:docMk/>
          <pc:sldMk cId="0" sldId="256"/>
        </pc:sldMkLst>
        <pc:spChg chg="mod">
          <ac:chgData name="Tanishq Srivastava" userId="cbb35628eeacb3ad" providerId="LiveId" clId="{62B61153-FF11-43BD-93B1-2757C2E9A611}" dt="2026-06-20T04:28:38.557" v="19" actId="14100"/>
          <ac:spMkLst>
            <pc:docMk/>
            <pc:sldMk cId="0" sldId="256"/>
            <ac:spMk id="2" creationId="{00000000-0000-0000-0000-000000000000}"/>
          </ac:spMkLst>
        </pc:spChg>
      </pc:sldChg>
      <pc:sldChg chg="delSp mod">
        <pc:chgData name="Tanishq Srivastava" userId="cbb35628eeacb3ad" providerId="LiveId" clId="{62B61153-FF11-43BD-93B1-2757C2E9A611}" dt="2026-06-20T04:26:18.656" v="0" actId="478"/>
        <pc:sldMkLst>
          <pc:docMk/>
          <pc:sldMk cId="0" sldId="257"/>
        </pc:sldMkLst>
        <pc:grpChg chg="del">
          <ac:chgData name="Tanishq Srivastava" userId="cbb35628eeacb3ad" providerId="LiveId" clId="{62B61153-FF11-43BD-93B1-2757C2E9A611}" dt="2026-06-20T04:26:18.656" v="0" actId="478"/>
          <ac:grpSpMkLst>
            <pc:docMk/>
            <pc:sldMk cId="0" sldId="257"/>
            <ac:grpSpMk id="2" creationId="{00000000-0000-0000-0000-000000000000}"/>
          </ac:grpSpMkLst>
        </pc:grpChg>
      </pc:sldChg>
      <pc:sldChg chg="delSp modSp mod">
        <pc:chgData name="Tanishq Srivastava" userId="cbb35628eeacb3ad" providerId="LiveId" clId="{62B61153-FF11-43BD-93B1-2757C2E9A611}" dt="2026-06-20T04:27:39.992" v="15" actId="1076"/>
        <pc:sldMkLst>
          <pc:docMk/>
          <pc:sldMk cId="0" sldId="260"/>
        </pc:sldMkLst>
        <pc:spChg chg="mod">
          <ac:chgData name="Tanishq Srivastava" userId="cbb35628eeacb3ad" providerId="LiveId" clId="{62B61153-FF11-43BD-93B1-2757C2E9A611}" dt="2026-06-20T04:26:45.611" v="8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Tanishq Srivastava" userId="cbb35628eeacb3ad" providerId="LiveId" clId="{62B61153-FF11-43BD-93B1-2757C2E9A611}" dt="2026-06-20T04:27:22.032" v="13" actId="141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Tanishq Srivastava" userId="cbb35628eeacb3ad" providerId="LiveId" clId="{62B61153-FF11-43BD-93B1-2757C2E9A611}" dt="2026-06-20T04:26:29.546" v="7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Tanishq Srivastava" userId="cbb35628eeacb3ad" providerId="LiveId" clId="{62B61153-FF11-43BD-93B1-2757C2E9A611}" dt="2026-06-20T04:26:58.963" v="11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Tanishq Srivastava" userId="cbb35628eeacb3ad" providerId="LiveId" clId="{62B61153-FF11-43BD-93B1-2757C2E9A611}" dt="2026-06-20T04:27:39.992" v="15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Tanishq Srivastava" userId="cbb35628eeacb3ad" providerId="LiveId" clId="{62B61153-FF11-43BD-93B1-2757C2E9A611}" dt="2026-06-20T04:27:06.100" v="12" actId="14100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Tanishq Srivastava" userId="cbb35628eeacb3ad" providerId="LiveId" clId="{62B61153-FF11-43BD-93B1-2757C2E9A611}" dt="2026-06-20T04:28:02.978" v="16" actId="1076"/>
        <pc:sldMkLst>
          <pc:docMk/>
          <pc:sldMk cId="0" sldId="262"/>
        </pc:sldMkLst>
        <pc:spChg chg="mod">
          <ac:chgData name="Tanishq Srivastava" userId="cbb35628eeacb3ad" providerId="LiveId" clId="{62B61153-FF11-43BD-93B1-2757C2E9A611}" dt="2026-06-20T04:28:02.978" v="16" actId="1076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203084">
                <a:moveTo>
                  <a:pt x="0" y="0"/>
                </a:moveTo>
                <a:lnTo>
                  <a:pt x="18288000" y="0"/>
                </a:lnTo>
                <a:lnTo>
                  <a:pt x="18288000" y="12203083"/>
                </a:lnTo>
                <a:lnTo>
                  <a:pt x="0" y="1220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80168" y="1153477"/>
            <a:ext cx="5701604" cy="4557232"/>
          </a:xfrm>
          <a:custGeom>
            <a:avLst/>
            <a:gdLst/>
            <a:ahLst/>
            <a:cxnLst/>
            <a:rect l="l" t="t" r="r" b="b"/>
            <a:pathLst>
              <a:path w="5701604" h="4557232">
                <a:moveTo>
                  <a:pt x="0" y="0"/>
                </a:moveTo>
                <a:lnTo>
                  <a:pt x="5701604" y="0"/>
                </a:lnTo>
                <a:lnTo>
                  <a:pt x="5701604" y="4557232"/>
                </a:lnTo>
                <a:lnTo>
                  <a:pt x="0" y="455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07812" y="2265596"/>
            <a:ext cx="10651488" cy="156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224"/>
              </a:lnSpc>
            </a:pPr>
            <a:r>
              <a:rPr lang="en-US" sz="12318" b="1">
                <a:solidFill>
                  <a:srgbClr val="6959CC"/>
                </a:solidFill>
                <a:latin typeface="Telegraf Bold"/>
                <a:ea typeface="Telegraf Bold"/>
                <a:cs typeface="Telegraf Bold"/>
                <a:sym typeface="Telegraf Bold"/>
              </a:rPr>
              <a:t>VIT</a:t>
            </a:r>
            <a:r>
              <a:rPr lang="en-US" sz="12318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amin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3124" y="5172075"/>
            <a:ext cx="8166791" cy="111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26"/>
              </a:lnSpc>
            </a:pPr>
            <a:r>
              <a:rPr lang="en-US" sz="3161">
                <a:solidFill>
                  <a:srgbClr val="F56904"/>
                </a:solidFill>
                <a:latin typeface="Canva Sans"/>
                <a:ea typeface="Canva Sans"/>
                <a:cs typeface="Canva Sans"/>
                <a:sym typeface="Canva Sans"/>
              </a:rPr>
              <a:t>AI-Powered Healthcare Companion</a:t>
            </a:r>
          </a:p>
          <a:p>
            <a:pPr algn="just">
              <a:lnSpc>
                <a:spcPts val="4426"/>
              </a:lnSpc>
              <a:spcBef>
                <a:spcPct val="0"/>
              </a:spcBef>
            </a:pPr>
            <a:r>
              <a:rPr lang="en-US" sz="3161">
                <a:solidFill>
                  <a:srgbClr val="E54545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sz="3161">
                <a:solidFill>
                  <a:srgbClr val="F56904"/>
                </a:solidFill>
                <a:latin typeface="Canva Sans"/>
                <a:ea typeface="Canva Sans"/>
                <a:cs typeface="Canva Sans"/>
                <a:sym typeface="Canva Sans"/>
              </a:rPr>
              <a:t>When Health Hesitates</a:t>
            </a:r>
            <a:r>
              <a:rPr lang="en-US" sz="3161">
                <a:solidFill>
                  <a:srgbClr val="E54545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161">
                <a:solidFill>
                  <a:srgbClr val="F00BE2"/>
                </a:solidFill>
                <a:latin typeface="Canva Sans"/>
                <a:ea typeface="Canva Sans"/>
                <a:cs typeface="Canva Sans"/>
                <a:sym typeface="Canva Sans"/>
              </a:rPr>
              <a:t>Mumma Listens.”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71260" y="346709"/>
            <a:ext cx="5888040" cy="151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899">
                <a:solidFill>
                  <a:srgbClr val="F00BE2"/>
                </a:solidFill>
                <a:latin typeface="Sugo Display"/>
                <a:ea typeface="Sugo Display"/>
                <a:cs typeface="Sugo Display"/>
                <a:sym typeface="Sugo Display"/>
              </a:rPr>
              <a:t>CTRL +</a:t>
            </a:r>
            <a:r>
              <a:rPr lang="en-US" sz="3899">
                <a:solidFill>
                  <a:srgbClr val="FFFEF5"/>
                </a:solidFill>
                <a:latin typeface="Sugo Display"/>
                <a:ea typeface="Sugo Display"/>
                <a:cs typeface="Sugo Display"/>
                <a:sym typeface="Sugo Display"/>
              </a:rPr>
              <a:t> </a:t>
            </a:r>
            <a:r>
              <a:rPr lang="en-US" sz="3899" b="1" i="1" u="sng">
                <a:solidFill>
                  <a:srgbClr val="F56904"/>
                </a:solidFill>
                <a:latin typeface="Sugo Display Bold Italics"/>
                <a:ea typeface="Sugo Display Bold Italics"/>
                <a:cs typeface="Sugo Display Bold Italics"/>
                <a:sym typeface="Sugo Display Bold Italics"/>
              </a:rPr>
              <a:t>FIRE</a:t>
            </a:r>
            <a:r>
              <a:rPr lang="en-US" sz="3899" b="1" i="1">
                <a:solidFill>
                  <a:srgbClr val="F56904"/>
                </a:solidFill>
                <a:latin typeface="Sugo Display Bold Italics"/>
                <a:ea typeface="Sugo Display Bold Italics"/>
                <a:cs typeface="Sugo Display Bold Italics"/>
                <a:sym typeface="Sugo Display Bold Italics"/>
              </a:rPr>
              <a:t> 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presents</a:t>
            </a:r>
          </a:p>
        </p:txBody>
      </p:sp>
      <p:sp>
        <p:nvSpPr>
          <p:cNvPr id="7" name="TextBox 7"/>
          <p:cNvSpPr txBox="1"/>
          <p:nvPr/>
        </p:nvSpPr>
        <p:spPr>
          <a:xfrm rot="47769">
            <a:off x="9445626" y="2890034"/>
            <a:ext cx="7856133" cy="223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220"/>
              </a:lnSpc>
              <a:spcBef>
                <a:spcPct val="0"/>
              </a:spcBef>
            </a:pPr>
            <a:r>
              <a:rPr lang="en-US" sz="12300" b="1">
                <a:gradFill>
                  <a:gsLst>
                    <a:gs pos="0">
                      <a:srgbClr val="B858B2">
                        <a:alpha val="100000"/>
                      </a:srgbClr>
                    </a:gs>
                    <a:gs pos="100000">
                      <a:srgbClr val="DCD0FF">
                        <a:alpha val="100000"/>
                      </a:srgbClr>
                    </a:gs>
                  </a:gsLst>
                  <a:lin ang="5400000"/>
                </a:gradFill>
                <a:latin typeface="Telegraf Bold"/>
                <a:ea typeface="Telegraf Bold"/>
                <a:cs typeface="Telegraf Bold"/>
                <a:sym typeface="Telegraf Bold"/>
              </a:rPr>
              <a:t>MOM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663545" y="1019175"/>
            <a:ext cx="5988725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5 Reasons for delayed</a:t>
            </a:r>
            <a:r>
              <a:rPr lang="en-US" sz="2999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999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healthcare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63545" y="1859016"/>
            <a:ext cx="10960910" cy="7493479"/>
            <a:chOff x="0" y="0"/>
            <a:chExt cx="14614547" cy="999130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4614547" cy="3475799"/>
              <a:chOff x="0" y="0"/>
              <a:chExt cx="2886824" cy="68657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86824" cy="686578"/>
              </a:xfrm>
              <a:custGeom>
                <a:avLst/>
                <a:gdLst/>
                <a:ahLst/>
                <a:cxnLst/>
                <a:rect l="l" t="t" r="r" b="b"/>
                <a:pathLst>
                  <a:path w="2886824" h="686578">
                    <a:moveTo>
                      <a:pt x="0" y="0"/>
                    </a:moveTo>
                    <a:lnTo>
                      <a:pt x="2886824" y="0"/>
                    </a:lnTo>
                    <a:lnTo>
                      <a:pt x="2886824" y="686578"/>
                    </a:lnTo>
                    <a:lnTo>
                      <a:pt x="0" y="686578"/>
                    </a:lnTo>
                    <a:close/>
                  </a:path>
                </a:pathLst>
              </a:custGeom>
              <a:solidFill>
                <a:srgbClr val="FFFEF5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85725"/>
                <a:ext cx="2886824" cy="772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70"/>
                  </a:lnSpc>
                </a:pPr>
                <a:endParaRPr/>
              </a:p>
            </p:txBody>
          </p:sp>
        </p:grpSp>
        <p:sp>
          <p:nvSpPr>
            <p:cNvPr id="9" name="Freeform 9" descr="preencoded.png"/>
            <p:cNvSpPr/>
            <p:nvPr/>
          </p:nvSpPr>
          <p:spPr>
            <a:xfrm>
              <a:off x="1172541" y="232423"/>
              <a:ext cx="623291" cy="623291"/>
            </a:xfrm>
            <a:custGeom>
              <a:avLst/>
              <a:gdLst/>
              <a:ahLst/>
              <a:cxnLst/>
              <a:rect l="l" t="t" r="r" b="b"/>
              <a:pathLst>
                <a:path w="623291" h="623291">
                  <a:moveTo>
                    <a:pt x="0" y="0"/>
                  </a:moveTo>
                  <a:lnTo>
                    <a:pt x="623291" y="0"/>
                  </a:lnTo>
                  <a:lnTo>
                    <a:pt x="623291" y="623290"/>
                  </a:lnTo>
                  <a:lnTo>
                    <a:pt x="0" y="623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127499" b="-127497"/>
              </a:stretch>
            </a:blipFill>
          </p:spPr>
        </p:sp>
        <p:sp>
          <p:nvSpPr>
            <p:cNvPr id="10" name="Freeform 10" descr="preencoded.png"/>
            <p:cNvSpPr/>
            <p:nvPr/>
          </p:nvSpPr>
          <p:spPr>
            <a:xfrm>
              <a:off x="5532210" y="232423"/>
              <a:ext cx="498678" cy="498678"/>
            </a:xfrm>
            <a:custGeom>
              <a:avLst/>
              <a:gdLst/>
              <a:ahLst/>
              <a:cxnLst/>
              <a:rect l="l" t="t" r="r" b="b"/>
              <a:pathLst>
                <a:path w="498678" h="498678">
                  <a:moveTo>
                    <a:pt x="0" y="0"/>
                  </a:moveTo>
                  <a:lnTo>
                    <a:pt x="498678" y="0"/>
                  </a:lnTo>
                  <a:lnTo>
                    <a:pt x="498678" y="498678"/>
                  </a:lnTo>
                  <a:lnTo>
                    <a:pt x="0" y="49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999" r="-4999"/>
              </a:stretch>
            </a:blipFill>
          </p:spPr>
        </p:sp>
        <p:sp>
          <p:nvSpPr>
            <p:cNvPr id="11" name="Freeform 11" descr="preencoded.png"/>
            <p:cNvSpPr/>
            <p:nvPr/>
          </p:nvSpPr>
          <p:spPr>
            <a:xfrm>
              <a:off x="9891879" y="232423"/>
              <a:ext cx="498678" cy="498678"/>
            </a:xfrm>
            <a:custGeom>
              <a:avLst/>
              <a:gdLst/>
              <a:ahLst/>
              <a:cxnLst/>
              <a:rect l="l" t="t" r="r" b="b"/>
              <a:pathLst>
                <a:path w="498678" h="498678">
                  <a:moveTo>
                    <a:pt x="0" y="0"/>
                  </a:moveTo>
                  <a:lnTo>
                    <a:pt x="498678" y="0"/>
                  </a:lnTo>
                  <a:lnTo>
                    <a:pt x="498678" y="498678"/>
                  </a:lnTo>
                  <a:lnTo>
                    <a:pt x="0" y="49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 descr="preencoded.png"/>
            <p:cNvSpPr/>
            <p:nvPr/>
          </p:nvSpPr>
          <p:spPr>
            <a:xfrm>
              <a:off x="1172541" y="1886801"/>
              <a:ext cx="498678" cy="498678"/>
            </a:xfrm>
            <a:custGeom>
              <a:avLst/>
              <a:gdLst/>
              <a:ahLst/>
              <a:cxnLst/>
              <a:rect l="l" t="t" r="r" b="b"/>
              <a:pathLst>
                <a:path w="498678" h="498678">
                  <a:moveTo>
                    <a:pt x="0" y="0"/>
                  </a:moveTo>
                  <a:lnTo>
                    <a:pt x="498679" y="0"/>
                  </a:lnTo>
                  <a:lnTo>
                    <a:pt x="498679" y="498678"/>
                  </a:lnTo>
                  <a:lnTo>
                    <a:pt x="0" y="49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748" r="-3751"/>
              </a:stretch>
            </a:blipFill>
          </p:spPr>
        </p:sp>
        <p:sp>
          <p:nvSpPr>
            <p:cNvPr id="13" name="Freeform 13" descr="preencoded.png"/>
            <p:cNvSpPr/>
            <p:nvPr/>
          </p:nvSpPr>
          <p:spPr>
            <a:xfrm>
              <a:off x="5532210" y="1886801"/>
              <a:ext cx="498678" cy="498678"/>
            </a:xfrm>
            <a:custGeom>
              <a:avLst/>
              <a:gdLst/>
              <a:ahLst/>
              <a:cxnLst/>
              <a:rect l="l" t="t" r="r" b="b"/>
              <a:pathLst>
                <a:path w="498678" h="498678">
                  <a:moveTo>
                    <a:pt x="0" y="0"/>
                  </a:moveTo>
                  <a:lnTo>
                    <a:pt x="498678" y="0"/>
                  </a:lnTo>
                  <a:lnTo>
                    <a:pt x="498678" y="498678"/>
                  </a:lnTo>
                  <a:lnTo>
                    <a:pt x="0" y="49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999" b="-4999"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1795832" y="3640899"/>
              <a:ext cx="11289817" cy="6350406"/>
              <a:chOff x="0" y="0"/>
              <a:chExt cx="12954597" cy="7286828"/>
            </a:xfrm>
          </p:grpSpPr>
          <p:sp>
            <p:nvSpPr>
              <p:cNvPr id="15" name="Freeform 15" descr="preencoded.png"/>
              <p:cNvSpPr/>
              <p:nvPr/>
            </p:nvSpPr>
            <p:spPr>
              <a:xfrm>
                <a:off x="0" y="0"/>
                <a:ext cx="12954635" cy="7286879"/>
              </a:xfrm>
              <a:custGeom>
                <a:avLst/>
                <a:gdLst/>
                <a:ahLst/>
                <a:cxnLst/>
                <a:rect l="l" t="t" r="r" b="b"/>
                <a:pathLst>
                  <a:path w="12954635" h="7286879">
                    <a:moveTo>
                      <a:pt x="0" y="0"/>
                    </a:moveTo>
                    <a:lnTo>
                      <a:pt x="12954635" y="0"/>
                    </a:lnTo>
                    <a:lnTo>
                      <a:pt x="12954635" y="7286879"/>
                    </a:lnTo>
                    <a:lnTo>
                      <a:pt x="0" y="72868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26" r="-25"/>
                </a:stretch>
              </a:blip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72541" y="855713"/>
              <a:ext cx="2346719" cy="292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r>
                <a:rPr lang="en-US" sz="15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Fear of diagnosis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2541" y="1218260"/>
              <a:ext cx="4235056" cy="49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People delay care due to anxiety and fear — early signs are missed.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32210" y="855713"/>
              <a:ext cx="3125003" cy="292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r>
                <a:rPr lang="en-US" sz="15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Financial limitations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32210" y="1218260"/>
              <a:ext cx="3550126" cy="49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Cost uncertainty prevents timely visits </a:t>
              </a:r>
            </a:p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and tests.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91879" y="855713"/>
              <a:ext cx="2346719" cy="292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r>
                <a:rPr lang="en-US" sz="15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Lack of awareness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91879" y="1218260"/>
              <a:ext cx="4065111" cy="244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Symptoms are misinterpreted or minimized.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2541" y="2510091"/>
              <a:ext cx="2346719" cy="292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r>
                <a:rPr lang="en-US" sz="15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Social stigma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2541" y="2939224"/>
              <a:ext cx="4235056" cy="49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Community perceptions block open health-seeking behavior.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32210" y="2510091"/>
              <a:ext cx="2346719" cy="292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r>
                <a:rPr lang="en-US" sz="15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Healthcare anxiety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2210" y="2872638"/>
              <a:ext cx="4235056" cy="49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4323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System complexity and mistrust create additional inertia.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663545" y="9734374"/>
            <a:ext cx="1019187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VITamin MOM targets these interlinked barriers by combining clinical triage with emotional and financial support.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E7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57712" y="3438955"/>
            <a:ext cx="8086288" cy="4977573"/>
            <a:chOff x="0" y="0"/>
            <a:chExt cx="2129722" cy="1310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9722" cy="1310966"/>
            </a:xfrm>
            <a:custGeom>
              <a:avLst/>
              <a:gdLst/>
              <a:ahLst/>
              <a:cxnLst/>
              <a:rect l="l" t="t" r="r" b="b"/>
              <a:pathLst>
                <a:path w="2129722" h="1310966">
                  <a:moveTo>
                    <a:pt x="0" y="0"/>
                  </a:moveTo>
                  <a:lnTo>
                    <a:pt x="2129722" y="0"/>
                  </a:lnTo>
                  <a:lnTo>
                    <a:pt x="2129722" y="1310966"/>
                  </a:lnTo>
                  <a:lnTo>
                    <a:pt x="0" y="13109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129722" cy="1396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2387" y="2629491"/>
            <a:ext cx="16203216" cy="5787038"/>
            <a:chOff x="0" y="0"/>
            <a:chExt cx="21604288" cy="7716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04224" cy="7716012"/>
            </a:xfrm>
            <a:custGeom>
              <a:avLst/>
              <a:gdLst/>
              <a:ahLst/>
              <a:cxnLst/>
              <a:rect l="l" t="t" r="r" b="b"/>
              <a:pathLst>
                <a:path w="21604224" h="7716012">
                  <a:moveTo>
                    <a:pt x="0" y="167767"/>
                  </a:moveTo>
                  <a:cubicBezTo>
                    <a:pt x="0" y="75184"/>
                    <a:pt x="75184" y="0"/>
                    <a:pt x="167767" y="0"/>
                  </a:cubicBezTo>
                  <a:lnTo>
                    <a:pt x="21436456" y="0"/>
                  </a:lnTo>
                  <a:cubicBezTo>
                    <a:pt x="21529167" y="0"/>
                    <a:pt x="21604224" y="75184"/>
                    <a:pt x="21604224" y="167767"/>
                  </a:cubicBezTo>
                  <a:lnTo>
                    <a:pt x="21604224" y="7548245"/>
                  </a:lnTo>
                  <a:cubicBezTo>
                    <a:pt x="21604224" y="7640955"/>
                    <a:pt x="21529039" y="7716012"/>
                    <a:pt x="21436456" y="7716012"/>
                  </a:cubicBezTo>
                  <a:lnTo>
                    <a:pt x="167767" y="7716012"/>
                  </a:lnTo>
                  <a:cubicBezTo>
                    <a:pt x="75184" y="7716012"/>
                    <a:pt x="0" y="7640955"/>
                    <a:pt x="0" y="754824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56" b="-4556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56684" y="2643778"/>
            <a:ext cx="8087316" cy="861565"/>
            <a:chOff x="0" y="0"/>
            <a:chExt cx="10783087" cy="11487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83062" cy="1148715"/>
            </a:xfrm>
            <a:custGeom>
              <a:avLst/>
              <a:gdLst/>
              <a:ahLst/>
              <a:cxnLst/>
              <a:rect l="l" t="t" r="r" b="b"/>
              <a:pathLst>
                <a:path w="10783062" h="1148715">
                  <a:moveTo>
                    <a:pt x="0" y="0"/>
                  </a:moveTo>
                  <a:lnTo>
                    <a:pt x="10783062" y="0"/>
                  </a:lnTo>
                  <a:lnTo>
                    <a:pt x="10783062" y="1148715"/>
                  </a:lnTo>
                  <a:lnTo>
                    <a:pt x="0" y="1148715"/>
                  </a:lnTo>
                  <a:close/>
                </a:path>
              </a:pathLst>
            </a:custGeom>
            <a:solidFill>
              <a:srgbClr val="9FDA74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55827" y="2747067"/>
            <a:ext cx="8398669" cy="42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 b="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Traditional Solutions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0" y="2643778"/>
            <a:ext cx="8087316" cy="861565"/>
            <a:chOff x="0" y="0"/>
            <a:chExt cx="10783087" cy="11487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83062" cy="1148715"/>
            </a:xfrm>
            <a:custGeom>
              <a:avLst/>
              <a:gdLst/>
              <a:ahLst/>
              <a:cxnLst/>
              <a:rect l="l" t="t" r="r" b="b"/>
              <a:pathLst>
                <a:path w="10783062" h="1148715">
                  <a:moveTo>
                    <a:pt x="0" y="0"/>
                  </a:moveTo>
                  <a:lnTo>
                    <a:pt x="10783062" y="0"/>
                  </a:lnTo>
                  <a:lnTo>
                    <a:pt x="10783062" y="1148715"/>
                  </a:lnTo>
                  <a:lnTo>
                    <a:pt x="0" y="1148715"/>
                  </a:lnTo>
                  <a:close/>
                </a:path>
              </a:pathLst>
            </a:custGeom>
            <a:solidFill>
              <a:srgbClr val="F98AC7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55827" y="3613394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Generic symptom checkers with rule-based questions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5827" y="4479731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emotional or behavioral detection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5827" y="5824833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Limited to clinical guidance — reactive care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5827" y="7169944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financial navigation or affordability recommendations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9143995" y="2629491"/>
            <a:ext cx="0" cy="5787009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9144000" y="3501185"/>
            <a:ext cx="8087316" cy="4915314"/>
            <a:chOff x="0" y="0"/>
            <a:chExt cx="2129993" cy="12945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29993" cy="1294568"/>
            </a:xfrm>
            <a:custGeom>
              <a:avLst/>
              <a:gdLst/>
              <a:ahLst/>
              <a:cxnLst/>
              <a:rect l="l" t="t" r="r" b="b"/>
              <a:pathLst>
                <a:path w="2129993" h="1294568">
                  <a:moveTo>
                    <a:pt x="0" y="0"/>
                  </a:moveTo>
                  <a:lnTo>
                    <a:pt x="2129993" y="0"/>
                  </a:lnTo>
                  <a:lnTo>
                    <a:pt x="2129993" y="1294568"/>
                  </a:lnTo>
                  <a:lnTo>
                    <a:pt x="0" y="12945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2129993" cy="1380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47150" y="1136752"/>
            <a:ext cx="9389269" cy="85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Why Current Solutions</a:t>
            </a:r>
            <a:r>
              <a:rPr lang="en-US" sz="55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550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Fail?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47905" y="2747067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 b="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VITamin MOM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47905" y="3613394"/>
            <a:ext cx="8398669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AI-driven conversational triage that adapts to user emotions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7905" y="4479731"/>
            <a:ext cx="7484269" cy="1043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Built-in emotional barrier detection to surface fears and stigma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7905" y="5824833"/>
            <a:ext cx="7484269" cy="1043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Proactive, mother-like guidance encouraging early intervention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47905" y="7169944"/>
            <a:ext cx="7484269" cy="1043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Integrated financial support suggestions (subsidies, low-cost clinics)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7150" y="8681590"/>
            <a:ext cx="17108091" cy="33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gap is not clinical knowledge — it’s human-centered delivery. VITamin MOM closes that gap.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150" y="820341"/>
            <a:ext cx="8843367" cy="84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How It Works —</a:t>
            </a:r>
            <a:r>
              <a:rPr lang="en-US" sz="54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540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User 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06411" y="2295077"/>
            <a:ext cx="15675026" cy="5881983"/>
            <a:chOff x="0" y="0"/>
            <a:chExt cx="20900034" cy="7842644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20900010" cy="7842631"/>
            </a:xfrm>
            <a:custGeom>
              <a:avLst/>
              <a:gdLst/>
              <a:ahLst/>
              <a:cxnLst/>
              <a:rect l="l" t="t" r="r" b="b"/>
              <a:pathLst>
                <a:path w="20900010" h="7842631">
                  <a:moveTo>
                    <a:pt x="0" y="0"/>
                  </a:moveTo>
                  <a:lnTo>
                    <a:pt x="20900010" y="0"/>
                  </a:lnTo>
                  <a:lnTo>
                    <a:pt x="20900010" y="7842631"/>
                  </a:lnTo>
                  <a:lnTo>
                    <a:pt x="0" y="7842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" b="-28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3971680" y="6529464"/>
            <a:ext cx="2364257" cy="8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Guidance &amp; Resources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92069" y="6529464"/>
            <a:ext cx="2364257" cy="8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Barrier Detection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28642" y="6529464"/>
            <a:ext cx="2364257" cy="8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Symptom Triage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65224" y="6529464"/>
            <a:ext cx="2364257" cy="8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VITamin MOM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37026" y="6529464"/>
            <a:ext cx="2364257" cy="8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Submit Symptoms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0" y="8417423"/>
            <a:ext cx="16193691" cy="1020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first symptom to actionable next steps — conversational AI identifies medical risk and the human barriers preventing care, then routes users to appropriate resources.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31330" y="2488559"/>
            <a:ext cx="3816256" cy="5071876"/>
          </a:xfrm>
          <a:custGeom>
            <a:avLst/>
            <a:gdLst/>
            <a:ahLst/>
            <a:cxnLst/>
            <a:rect l="l" t="t" r="r" b="b"/>
            <a:pathLst>
              <a:path w="4394724" h="5604399">
                <a:moveTo>
                  <a:pt x="0" y="0"/>
                </a:moveTo>
                <a:lnTo>
                  <a:pt x="4394724" y="0"/>
                </a:lnTo>
                <a:lnTo>
                  <a:pt x="4394724" y="5604399"/>
                </a:lnTo>
                <a:lnTo>
                  <a:pt x="0" y="5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73000" y="2383767"/>
            <a:ext cx="3504981" cy="5176667"/>
          </a:xfrm>
          <a:custGeom>
            <a:avLst/>
            <a:gdLst/>
            <a:ahLst/>
            <a:cxnLst/>
            <a:rect l="l" t="t" r="r" b="b"/>
            <a:pathLst>
              <a:path w="3816255" h="5813982">
                <a:moveTo>
                  <a:pt x="0" y="0"/>
                </a:moveTo>
                <a:lnTo>
                  <a:pt x="3816255" y="0"/>
                </a:lnTo>
                <a:lnTo>
                  <a:pt x="3816255" y="5813981"/>
                </a:lnTo>
                <a:lnTo>
                  <a:pt x="0" y="5813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8027" y="3116207"/>
            <a:ext cx="1263213" cy="1263213"/>
          </a:xfrm>
          <a:custGeom>
            <a:avLst/>
            <a:gdLst/>
            <a:ahLst/>
            <a:cxnLst/>
            <a:rect l="l" t="t" r="r" b="b"/>
            <a:pathLst>
              <a:path w="1263213" h="1263213">
                <a:moveTo>
                  <a:pt x="0" y="0"/>
                </a:moveTo>
                <a:lnTo>
                  <a:pt x="1263213" y="0"/>
                </a:lnTo>
                <a:lnTo>
                  <a:pt x="1263213" y="1263213"/>
                </a:lnTo>
                <a:lnTo>
                  <a:pt x="0" y="1263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8027" y="6159469"/>
            <a:ext cx="1263213" cy="1267832"/>
          </a:xfrm>
          <a:custGeom>
            <a:avLst/>
            <a:gdLst/>
            <a:ahLst/>
            <a:cxnLst/>
            <a:rect l="l" t="t" r="r" b="b"/>
            <a:pathLst>
              <a:path w="1263213" h="1267832">
                <a:moveTo>
                  <a:pt x="0" y="0"/>
                </a:moveTo>
                <a:lnTo>
                  <a:pt x="1263213" y="0"/>
                </a:lnTo>
                <a:lnTo>
                  <a:pt x="1263213" y="1267832"/>
                </a:lnTo>
                <a:lnTo>
                  <a:pt x="0" y="1267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1240" y="589982"/>
            <a:ext cx="8395784" cy="119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8"/>
              </a:lnSpc>
            </a:pPr>
            <a:r>
              <a:rPr lang="en-US" sz="8877">
                <a:solidFill>
                  <a:srgbClr val="FFFEF5"/>
                </a:solidFill>
                <a:latin typeface="Telegraf"/>
                <a:ea typeface="Telegraf"/>
                <a:cs typeface="Telegraf"/>
                <a:sym typeface="Telegraf"/>
              </a:rPr>
              <a:t>OUR</a:t>
            </a:r>
            <a:r>
              <a:rPr lang="en-US" sz="8877">
                <a:solidFill>
                  <a:srgbClr val="51553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8877">
                <a:solidFill>
                  <a:srgbClr val="F00BE2"/>
                </a:solidFill>
                <a:latin typeface="Telegraf"/>
                <a:ea typeface="Telegraf"/>
                <a:cs typeface="Telegraf"/>
                <a:sym typeface="Telegraf"/>
              </a:rPr>
              <a:t>WEBSITE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1178" y="8236801"/>
            <a:ext cx="4578151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Homepage Interface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44419" y="8236801"/>
            <a:ext cx="4962141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Personalized Action Plan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8917429"/>
            <a:ext cx="9827821" cy="6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9"/>
              </a:lnSpc>
            </a:pPr>
            <a:r>
              <a:rPr lang="en-US" sz="19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Github Repository : </a:t>
            </a:r>
            <a:r>
              <a:rPr lang="en-US" sz="1920">
                <a:solidFill>
                  <a:srgbClr val="5170FF"/>
                </a:solidFill>
                <a:latin typeface="Telegraf"/>
                <a:ea typeface="Telegraf"/>
                <a:cs typeface="Telegraf"/>
                <a:sym typeface="Telegraf"/>
              </a:rPr>
              <a:t>https://github.com/ps0303115-cell/VITamin-MOM.git</a:t>
            </a:r>
          </a:p>
          <a:p>
            <a:pPr algn="ctr">
              <a:lnSpc>
                <a:spcPts val="2689"/>
              </a:lnSpc>
              <a:spcBef>
                <a:spcPct val="0"/>
              </a:spcBef>
            </a:pPr>
            <a:r>
              <a:rPr lang="en-US" sz="19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Live Demo :</a:t>
            </a:r>
            <a:r>
              <a:rPr lang="en-US" sz="1920">
                <a:solidFill>
                  <a:srgbClr val="5170FF"/>
                </a:solidFill>
                <a:latin typeface="Telegraf"/>
                <a:ea typeface="Telegraf"/>
                <a:cs typeface="Telegraf"/>
                <a:sym typeface="Telegraf"/>
              </a:rPr>
              <a:t>  https://ps0303115-cell.github.io/VITamin-MOM/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7478" y="9640161"/>
            <a:ext cx="11500521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EF5"/>
                </a:solidFill>
                <a:latin typeface="Telegraf"/>
                <a:ea typeface="Telegraf"/>
                <a:cs typeface="Telegraf"/>
                <a:sym typeface="Telegraf"/>
              </a:rPr>
              <a:t>Built using HTML • CSS • JavaScript • GitHub Pages • Figma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582632" y="7560434"/>
            <a:ext cx="4621355" cy="37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4"/>
              </a:lnSpc>
              <a:spcBef>
                <a:spcPct val="0"/>
              </a:spcBef>
            </a:pPr>
            <a:r>
              <a:rPr lang="en-US" sz="204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🌐 Scan for Live Website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4749166"/>
            <a:ext cx="3783211" cy="39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💻 Scan for GitHub Repository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0777" y="442055"/>
            <a:ext cx="4962141" cy="179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Disclaimer : this is a prototype based on out planning and knowledge. Actual website may vary in designs and functionality. 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7605" y="3198466"/>
            <a:ext cx="3891329" cy="4889602"/>
            <a:chOff x="0" y="0"/>
            <a:chExt cx="1024877" cy="12877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877" cy="1287796"/>
            </a:xfrm>
            <a:custGeom>
              <a:avLst/>
              <a:gdLst/>
              <a:ahLst/>
              <a:cxnLst/>
              <a:rect l="l" t="t" r="r" b="b"/>
              <a:pathLst>
                <a:path w="1024877" h="1287796">
                  <a:moveTo>
                    <a:pt x="0" y="0"/>
                  </a:moveTo>
                  <a:lnTo>
                    <a:pt x="1024877" y="0"/>
                  </a:lnTo>
                  <a:lnTo>
                    <a:pt x="1024877" y="1287796"/>
                  </a:lnTo>
                  <a:lnTo>
                    <a:pt x="0" y="12877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024877" cy="137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150" y="3198466"/>
            <a:ext cx="3911784" cy="4889602"/>
            <a:chOff x="0" y="0"/>
            <a:chExt cx="1456728" cy="1820862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1456690" cy="1820799"/>
            </a:xfrm>
            <a:custGeom>
              <a:avLst/>
              <a:gdLst/>
              <a:ahLst/>
              <a:cxnLst/>
              <a:rect l="l" t="t" r="r" b="b"/>
              <a:pathLst>
                <a:path w="1456690" h="1820799">
                  <a:moveTo>
                    <a:pt x="0" y="0"/>
                  </a:moveTo>
                  <a:lnTo>
                    <a:pt x="1456690" y="0"/>
                  </a:lnTo>
                  <a:lnTo>
                    <a:pt x="1456690" y="1820799"/>
                  </a:lnTo>
                  <a:lnTo>
                    <a:pt x="0" y="182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88" r="-2" b="-9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189039" y="3198466"/>
            <a:ext cx="3891329" cy="4889602"/>
            <a:chOff x="0" y="0"/>
            <a:chExt cx="1024877" cy="12877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4877" cy="1287796"/>
            </a:xfrm>
            <a:custGeom>
              <a:avLst/>
              <a:gdLst/>
              <a:ahLst/>
              <a:cxnLst/>
              <a:rect l="l" t="t" r="r" b="b"/>
              <a:pathLst>
                <a:path w="1024877" h="1287796">
                  <a:moveTo>
                    <a:pt x="0" y="0"/>
                  </a:moveTo>
                  <a:lnTo>
                    <a:pt x="1024877" y="0"/>
                  </a:lnTo>
                  <a:lnTo>
                    <a:pt x="1024877" y="1287796"/>
                  </a:lnTo>
                  <a:lnTo>
                    <a:pt x="0" y="12877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1024877" cy="137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89039" y="3198466"/>
            <a:ext cx="3767880" cy="4889602"/>
            <a:chOff x="0" y="0"/>
            <a:chExt cx="1403139" cy="18208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403103" cy="1820799"/>
            </a:xfrm>
            <a:custGeom>
              <a:avLst/>
              <a:gdLst/>
              <a:ahLst/>
              <a:cxnLst/>
              <a:rect l="l" t="t" r="r" b="b"/>
              <a:pathLst>
                <a:path w="1403103" h="1820799">
                  <a:moveTo>
                    <a:pt x="0" y="0"/>
                  </a:moveTo>
                  <a:lnTo>
                    <a:pt x="1403103" y="0"/>
                  </a:lnTo>
                  <a:lnTo>
                    <a:pt x="1403103" y="1820799"/>
                  </a:lnTo>
                  <a:lnTo>
                    <a:pt x="0" y="182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817" r="-1820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310473" y="3198466"/>
            <a:ext cx="3891329" cy="4889602"/>
            <a:chOff x="0" y="0"/>
            <a:chExt cx="1024877" cy="12877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877" cy="1287796"/>
            </a:xfrm>
            <a:custGeom>
              <a:avLst/>
              <a:gdLst/>
              <a:ahLst/>
              <a:cxnLst/>
              <a:rect l="l" t="t" r="r" b="b"/>
              <a:pathLst>
                <a:path w="1024877" h="1287796">
                  <a:moveTo>
                    <a:pt x="0" y="0"/>
                  </a:moveTo>
                  <a:lnTo>
                    <a:pt x="1024877" y="0"/>
                  </a:lnTo>
                  <a:lnTo>
                    <a:pt x="1024877" y="1287796"/>
                  </a:lnTo>
                  <a:lnTo>
                    <a:pt x="0" y="12877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024877" cy="137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95069" y="3278641"/>
            <a:ext cx="3847642" cy="4809427"/>
            <a:chOff x="0" y="0"/>
            <a:chExt cx="1456728" cy="182086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456690" cy="1820799"/>
            </a:xfrm>
            <a:custGeom>
              <a:avLst/>
              <a:gdLst/>
              <a:ahLst/>
              <a:cxnLst/>
              <a:rect l="l" t="t" r="r" b="b"/>
              <a:pathLst>
                <a:path w="1456690" h="1820799">
                  <a:moveTo>
                    <a:pt x="0" y="0"/>
                  </a:moveTo>
                  <a:lnTo>
                    <a:pt x="1456690" y="0"/>
                  </a:lnTo>
                  <a:lnTo>
                    <a:pt x="1456690" y="1820799"/>
                  </a:lnTo>
                  <a:lnTo>
                    <a:pt x="0" y="182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1000"/>
              </a:blip>
              <a:stretch>
                <a:fillRect t="-88" r="-2" b="-9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431908" y="3198466"/>
            <a:ext cx="3891329" cy="4889602"/>
            <a:chOff x="0" y="0"/>
            <a:chExt cx="1024877" cy="1287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877" cy="1287796"/>
            </a:xfrm>
            <a:custGeom>
              <a:avLst/>
              <a:gdLst/>
              <a:ahLst/>
              <a:cxnLst/>
              <a:rect l="l" t="t" r="r" b="b"/>
              <a:pathLst>
                <a:path w="1024877" h="1287796">
                  <a:moveTo>
                    <a:pt x="0" y="0"/>
                  </a:moveTo>
                  <a:lnTo>
                    <a:pt x="1024877" y="0"/>
                  </a:lnTo>
                  <a:lnTo>
                    <a:pt x="1024877" y="1287796"/>
                  </a:lnTo>
                  <a:lnTo>
                    <a:pt x="0" y="12877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024877" cy="137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472817" y="3198466"/>
            <a:ext cx="3786483" cy="4889602"/>
            <a:chOff x="0" y="0"/>
            <a:chExt cx="1456931" cy="188138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456944" cy="1881367"/>
            </a:xfrm>
            <a:custGeom>
              <a:avLst/>
              <a:gdLst/>
              <a:ahLst/>
              <a:cxnLst/>
              <a:rect l="l" t="t" r="r" b="b"/>
              <a:pathLst>
                <a:path w="1456944" h="1881367">
                  <a:moveTo>
                    <a:pt x="0" y="0"/>
                  </a:moveTo>
                  <a:lnTo>
                    <a:pt x="1456944" y="0"/>
                  </a:lnTo>
                  <a:lnTo>
                    <a:pt x="1456944" y="1881367"/>
                  </a:lnTo>
                  <a:lnTo>
                    <a:pt x="0" y="1881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2000"/>
              </a:blip>
              <a:stretch>
                <a:fillRect l="-1563" r="-1562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47150" y="1700955"/>
            <a:ext cx="4602480" cy="85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Core</a:t>
            </a:r>
            <a:r>
              <a:rPr lang="en-US" sz="55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550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272" y="3422380"/>
            <a:ext cx="2513432" cy="84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E17EB"/>
                </a:solidFill>
                <a:latin typeface="Noto Serif"/>
                <a:ea typeface="Noto Serif"/>
                <a:cs typeface="Noto Serif"/>
                <a:sym typeface="Noto Serif"/>
              </a:rPr>
              <a:t>Symptom Investigation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0272" y="4502712"/>
            <a:ext cx="2725539" cy="322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2723">
                <a:solidFill>
                  <a:srgbClr val="F00BE2"/>
                </a:solidFill>
                <a:latin typeface="Source Sans 3"/>
                <a:ea typeface="Source Sans 3"/>
                <a:cs typeface="Source Sans 3"/>
                <a:sym typeface="Source Sans 3"/>
              </a:rPr>
              <a:t>AI-guided, evidence-backed evaluation with adaptive questioning and risk stratification.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94268" y="3358906"/>
            <a:ext cx="2301326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E17EB"/>
                </a:solidFill>
                <a:latin typeface="Noto Serif"/>
                <a:ea typeface="Noto Serif"/>
                <a:cs typeface="Noto Serif"/>
                <a:sym typeface="Noto Serif"/>
              </a:rPr>
              <a:t>Barrier Detection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00880" y="4468863"/>
            <a:ext cx="2894980" cy="350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499">
                <a:solidFill>
                  <a:srgbClr val="F00BE2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fear, stigma, and financial constraints using conversation signals and prompts supportive interventions.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6840" y="3422380"/>
            <a:ext cx="2301326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E17EB"/>
                </a:solidFill>
                <a:latin typeface="Noto Serif"/>
                <a:ea typeface="Noto Serif"/>
                <a:cs typeface="Noto Serif"/>
                <a:sym typeface="Noto Serif"/>
              </a:rPr>
              <a:t>Mother-like Guidance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6069" y="4521762"/>
            <a:ext cx="3022096" cy="310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599">
                <a:solidFill>
                  <a:srgbClr val="F00BE2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Empathetic nudges, plain-language explanations, and culturally sensitive encouragement to seek care.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38087" y="3422380"/>
            <a:ext cx="2301326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E17EB"/>
                </a:solidFill>
                <a:latin typeface="Noto Serif"/>
                <a:ea typeface="Noto Serif"/>
                <a:cs typeface="Noto Serif"/>
                <a:sym typeface="Noto Serif"/>
              </a:rPr>
              <a:t>Financial Support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80937" y="4521762"/>
            <a:ext cx="2358476" cy="299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499">
                <a:solidFill>
                  <a:srgbClr val="F00BE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Personalized recommendations for low-cost clinics, subsidies, and step-by-step payment plans.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387" y="7107431"/>
            <a:ext cx="16203216" cy="2203847"/>
            <a:chOff x="0" y="0"/>
            <a:chExt cx="21604288" cy="2938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4224" cy="2938399"/>
            </a:xfrm>
            <a:custGeom>
              <a:avLst/>
              <a:gdLst/>
              <a:ahLst/>
              <a:cxnLst/>
              <a:rect l="l" t="t" r="r" b="b"/>
              <a:pathLst>
                <a:path w="21604224" h="2938399">
                  <a:moveTo>
                    <a:pt x="0" y="168275"/>
                  </a:moveTo>
                  <a:cubicBezTo>
                    <a:pt x="0" y="75311"/>
                    <a:pt x="75311" y="0"/>
                    <a:pt x="168275" y="0"/>
                  </a:cubicBezTo>
                  <a:lnTo>
                    <a:pt x="21435949" y="0"/>
                  </a:lnTo>
                  <a:cubicBezTo>
                    <a:pt x="21528912" y="0"/>
                    <a:pt x="21604224" y="75311"/>
                    <a:pt x="21604224" y="168275"/>
                  </a:cubicBezTo>
                  <a:lnTo>
                    <a:pt x="21604224" y="2770124"/>
                  </a:lnTo>
                  <a:cubicBezTo>
                    <a:pt x="21604224" y="2863088"/>
                    <a:pt x="21528912" y="2938399"/>
                    <a:pt x="21435949" y="2938399"/>
                  </a:cubicBezTo>
                  <a:lnTo>
                    <a:pt x="168275" y="2938399"/>
                  </a:lnTo>
                  <a:cubicBezTo>
                    <a:pt x="75311" y="2938526"/>
                    <a:pt x="0" y="2863088"/>
                    <a:pt x="0" y="2770124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6684" y="7121728"/>
            <a:ext cx="8087316" cy="2175272"/>
            <a:chOff x="0" y="0"/>
            <a:chExt cx="10783087" cy="29003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83062" cy="2900426"/>
            </a:xfrm>
            <a:custGeom>
              <a:avLst/>
              <a:gdLst/>
              <a:ahLst/>
              <a:cxnLst/>
              <a:rect l="l" t="t" r="r" b="b"/>
              <a:pathLst>
                <a:path w="10783062" h="2900426">
                  <a:moveTo>
                    <a:pt x="0" y="0"/>
                  </a:moveTo>
                  <a:lnTo>
                    <a:pt x="10783062" y="0"/>
                  </a:lnTo>
                  <a:lnTo>
                    <a:pt x="10783062" y="2900426"/>
                  </a:lnTo>
                  <a:lnTo>
                    <a:pt x="0" y="2900426"/>
                  </a:lnTo>
                  <a:close/>
                </a:path>
              </a:pathLst>
            </a:custGeom>
            <a:solidFill>
              <a:srgbClr val="F9D2E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44000" y="7121728"/>
            <a:ext cx="8087316" cy="2175272"/>
            <a:chOff x="0" y="0"/>
            <a:chExt cx="10783087" cy="29003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83062" cy="2900426"/>
            </a:xfrm>
            <a:custGeom>
              <a:avLst/>
              <a:gdLst/>
              <a:ahLst/>
              <a:cxnLst/>
              <a:rect l="l" t="t" r="r" b="b"/>
              <a:pathLst>
                <a:path w="10783062" h="2900426">
                  <a:moveTo>
                    <a:pt x="0" y="0"/>
                  </a:moveTo>
                  <a:lnTo>
                    <a:pt x="10783062" y="0"/>
                  </a:lnTo>
                  <a:lnTo>
                    <a:pt x="10783062" y="2900426"/>
                  </a:lnTo>
                  <a:lnTo>
                    <a:pt x="0" y="2900426"/>
                  </a:lnTo>
                  <a:close/>
                </a:path>
              </a:pathLst>
            </a:custGeom>
            <a:solidFill>
              <a:srgbClr val="F9D2E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0" y="7121728"/>
            <a:ext cx="38100" cy="2175272"/>
            <a:chOff x="0" y="0"/>
            <a:chExt cx="50800" cy="29003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2900426"/>
            </a:xfrm>
            <a:custGeom>
              <a:avLst/>
              <a:gdLst/>
              <a:ahLst/>
              <a:cxnLst/>
              <a:rect l="l" t="t" r="r" b="b"/>
              <a:pathLst>
                <a:path w="50800" h="290042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875026"/>
                  </a:lnTo>
                  <a:cubicBezTo>
                    <a:pt x="50800" y="2888996"/>
                    <a:pt x="39370" y="2900426"/>
                    <a:pt x="25400" y="2900426"/>
                  </a:cubicBezTo>
                  <a:cubicBezTo>
                    <a:pt x="11430" y="2900426"/>
                    <a:pt x="0" y="2888996"/>
                    <a:pt x="0" y="2875026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0500" y="2527272"/>
            <a:ext cx="7045771" cy="3979198"/>
            <a:chOff x="0" y="0"/>
            <a:chExt cx="1855676" cy="10480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55676" cy="1048019"/>
            </a:xfrm>
            <a:custGeom>
              <a:avLst/>
              <a:gdLst/>
              <a:ahLst/>
              <a:cxnLst/>
              <a:rect l="l" t="t" r="r" b="b"/>
              <a:pathLst>
                <a:path w="1855676" h="1048019">
                  <a:moveTo>
                    <a:pt x="0" y="0"/>
                  </a:moveTo>
                  <a:lnTo>
                    <a:pt x="1855676" y="0"/>
                  </a:lnTo>
                  <a:lnTo>
                    <a:pt x="1855676" y="1048019"/>
                  </a:lnTo>
                  <a:lnTo>
                    <a:pt x="0" y="10480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855676" cy="1114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2387" y="841011"/>
            <a:ext cx="5151834" cy="85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dirty="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Business</a:t>
            </a:r>
            <a:r>
              <a:rPr lang="en-US" sz="5500" dirty="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5500" dirty="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150" y="2589162"/>
            <a:ext cx="44346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Free Version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150" y="3261570"/>
            <a:ext cx="7731919" cy="173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Symptom Investigation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Barrier Detection &amp; basic guidance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Self-help resources and clinic locators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42800" y="2527272"/>
            <a:ext cx="7689716" cy="3979198"/>
            <a:chOff x="0" y="0"/>
            <a:chExt cx="2025275" cy="10480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5275" cy="1048019"/>
            </a:xfrm>
            <a:custGeom>
              <a:avLst/>
              <a:gdLst/>
              <a:ahLst/>
              <a:cxnLst/>
              <a:rect l="l" t="t" r="r" b="b"/>
              <a:pathLst>
                <a:path w="2025275" h="1048019">
                  <a:moveTo>
                    <a:pt x="0" y="0"/>
                  </a:moveTo>
                  <a:lnTo>
                    <a:pt x="2025275" y="0"/>
                  </a:lnTo>
                  <a:lnTo>
                    <a:pt x="2025275" y="1048019"/>
                  </a:lnTo>
                  <a:lnTo>
                    <a:pt x="0" y="10480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025275" cy="1114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47150" y="5195440"/>
            <a:ext cx="8646319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Low-friction entry to build engagement and trust at scale.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18456" y="2589162"/>
            <a:ext cx="44346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Premium Version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18456" y="3261570"/>
            <a:ext cx="7731919" cy="221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Band integration &amp; continuous monitoring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Advanced predictive insights and personalized reports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Priority support, emergency alerts, and clinician connections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18456" y="5674223"/>
            <a:ext cx="7731919" cy="83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SaaS + device kit revenue, recurring subscription, B2B partnerships with clinics and NGOs.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5827" y="7401820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Pricing Cards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5827" y="7954566"/>
            <a:ext cx="7489031" cy="5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Free • Premium • Enterprise (health systems)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3142" y="7401820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Go-to-Market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3142" y="7954566"/>
            <a:ext cx="7489031" cy="1043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Community health workers, NGO pilots, employer wellness programs, and telehealth partnerships.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25988" y="1481433"/>
            <a:ext cx="9635881" cy="4155129"/>
            <a:chOff x="0" y="0"/>
            <a:chExt cx="12847841" cy="5540172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2847828" cy="5540121"/>
            </a:xfrm>
            <a:custGeom>
              <a:avLst/>
              <a:gdLst/>
              <a:ahLst/>
              <a:cxnLst/>
              <a:rect l="l" t="t" r="r" b="b"/>
              <a:pathLst>
                <a:path w="12847828" h="5540121">
                  <a:moveTo>
                    <a:pt x="0" y="0"/>
                  </a:moveTo>
                  <a:lnTo>
                    <a:pt x="12847828" y="0"/>
                  </a:lnTo>
                  <a:lnTo>
                    <a:pt x="12847828" y="5540121"/>
                  </a:lnTo>
                  <a:lnTo>
                    <a:pt x="0" y="5540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9" b="-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512887" y="6165216"/>
            <a:ext cx="6187526" cy="3506238"/>
            <a:chOff x="0" y="0"/>
            <a:chExt cx="8250034" cy="4674984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8250047" cy="4674997"/>
            </a:xfrm>
            <a:custGeom>
              <a:avLst/>
              <a:gdLst/>
              <a:ahLst/>
              <a:cxnLst/>
              <a:rect l="l" t="t" r="r" b="b"/>
              <a:pathLst>
                <a:path w="8250047" h="4674997">
                  <a:moveTo>
                    <a:pt x="0" y="0"/>
                  </a:moveTo>
                  <a:lnTo>
                    <a:pt x="8250047" y="0"/>
                  </a:lnTo>
                  <a:lnTo>
                    <a:pt x="8250047" y="4674997"/>
                  </a:lnTo>
                  <a:lnTo>
                    <a:pt x="0" y="4674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0" b="-9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032323" y="6473812"/>
            <a:ext cx="6860046" cy="3086100"/>
            <a:chOff x="0" y="0"/>
            <a:chExt cx="1806761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6761" cy="812800"/>
            </a:xfrm>
            <a:custGeom>
              <a:avLst/>
              <a:gdLst/>
              <a:ahLst/>
              <a:cxnLst/>
              <a:rect l="l" t="t" r="r" b="b"/>
              <a:pathLst>
                <a:path w="1806761" h="812800">
                  <a:moveTo>
                    <a:pt x="0" y="0"/>
                  </a:moveTo>
                  <a:lnTo>
                    <a:pt x="1806761" y="0"/>
                  </a:lnTo>
                  <a:lnTo>
                    <a:pt x="18067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806761" cy="898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85955" y="872881"/>
            <a:ext cx="3724275" cy="4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Technical</a:t>
            </a:r>
            <a:r>
              <a:rPr lang="en-US" sz="27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70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74460" y="4856645"/>
            <a:ext cx="2057286" cy="2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AI 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74460" y="3894801"/>
            <a:ext cx="2143963" cy="2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Real-Time Collection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74460" y="2942673"/>
            <a:ext cx="2057286" cy="2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Secure Data Ingest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4460" y="1980819"/>
            <a:ext cx="2057286" cy="2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FFEF5"/>
                </a:solidFill>
                <a:latin typeface="Noto Serif"/>
                <a:ea typeface="Noto Serif"/>
                <a:cs typeface="Noto Serif"/>
                <a:sym typeface="Noto Serif"/>
              </a:rPr>
              <a:t>Wearable Band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85955" y="5940412"/>
            <a:ext cx="203858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1">
                <a:solidFill>
                  <a:srgbClr val="FFFEF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</a:t>
            </a:r>
            <a:r>
              <a:rPr lang="en-US" sz="2299" b="1">
                <a:solidFill>
                  <a:srgbClr val="4323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  <a:r>
              <a:rPr lang="en-US" sz="2299" b="1">
                <a:solidFill>
                  <a:srgbClr val="F00BE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capabilities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25988" y="6946785"/>
            <a:ext cx="6700324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976" lvl="1" indent="-256988" algn="l">
              <a:lnSpc>
                <a:spcPts val="2556"/>
              </a:lnSpc>
              <a:buFont typeface="Arial"/>
              <a:buChar char="•"/>
            </a:pPr>
            <a:r>
              <a:rPr lang="en-US" sz="213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Edge preprocessing on-band for privacy-preserving signals</a:t>
            </a:r>
          </a:p>
          <a:p>
            <a:pPr marL="513976" lvl="1" indent="-256988" algn="l">
              <a:lnSpc>
                <a:spcPts val="2556"/>
              </a:lnSpc>
              <a:buFont typeface="Arial"/>
              <a:buChar char="•"/>
            </a:pPr>
            <a:r>
              <a:rPr lang="en-US" sz="213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Cloud ML for continuous model updates and personalization</a:t>
            </a:r>
          </a:p>
          <a:p>
            <a:pPr marL="513976" lvl="1" indent="-256988" algn="l">
              <a:lnSpc>
                <a:spcPts val="2556"/>
              </a:lnSpc>
              <a:buFont typeface="Arial"/>
              <a:buChar char="•"/>
            </a:pPr>
            <a:r>
              <a:rPr lang="en-US" sz="213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 APIs for clinic referrals and subsidies lookup</a:t>
            </a:r>
          </a:p>
          <a:p>
            <a:pPr marL="513976" lvl="1" indent="-256988" algn="l">
              <a:lnSpc>
                <a:spcPts val="2556"/>
              </a:lnSpc>
              <a:buFont typeface="Arial"/>
              <a:buChar char="•"/>
            </a:pPr>
            <a:r>
              <a:rPr lang="en-US" sz="213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Human-in-the-loop escalation for complex cases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64146" y="842810"/>
            <a:ext cx="3865007" cy="59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Future</a:t>
            </a:r>
            <a:r>
              <a:rPr lang="en-US" sz="3800">
                <a:solidFill>
                  <a:srgbClr val="371A2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3800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Roadmap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1744866"/>
            <a:ext cx="35119" cy="7154154"/>
            <a:chOff x="0" y="0"/>
            <a:chExt cx="38100" cy="77614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00" cy="7761478"/>
            </a:xfrm>
            <a:custGeom>
              <a:avLst/>
              <a:gdLst/>
              <a:ahLst/>
              <a:cxnLst/>
              <a:rect l="l" t="t" r="r" b="b"/>
              <a:pathLst>
                <a:path w="38100" h="7761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42428"/>
                  </a:lnTo>
                  <a:cubicBezTo>
                    <a:pt x="38100" y="7752969"/>
                    <a:pt x="29591" y="7761478"/>
                    <a:pt x="19050" y="7761478"/>
                  </a:cubicBezTo>
                  <a:cubicBezTo>
                    <a:pt x="8509" y="7761478"/>
                    <a:pt x="0" y="7752969"/>
                    <a:pt x="0" y="7742428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323955" y="1966760"/>
            <a:ext cx="617039" cy="28575"/>
            <a:chOff x="0" y="0"/>
            <a:chExt cx="822719" cy="38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706" cy="38100"/>
            </a:xfrm>
            <a:custGeom>
              <a:avLst/>
              <a:gdLst/>
              <a:ahLst/>
              <a:cxnLst/>
              <a:rect l="l" t="t" r="r" b="b"/>
              <a:pathLst>
                <a:path w="82270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3656" y="0"/>
                  </a:lnTo>
                  <a:cubicBezTo>
                    <a:pt x="814197" y="0"/>
                    <a:pt x="822706" y="8509"/>
                    <a:pt x="822706" y="19050"/>
                  </a:cubicBezTo>
                  <a:cubicBezTo>
                    <a:pt x="822706" y="29591"/>
                    <a:pt x="814197" y="38100"/>
                    <a:pt x="80365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907666" y="1744866"/>
            <a:ext cx="472383" cy="472383"/>
            <a:chOff x="0" y="0"/>
            <a:chExt cx="629844" cy="6298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512318" y="0"/>
                  </a:lnTo>
                  <a:cubicBezTo>
                    <a:pt x="577215" y="0"/>
                    <a:pt x="629920" y="52578"/>
                    <a:pt x="629920" y="117602"/>
                  </a:cubicBezTo>
                  <a:lnTo>
                    <a:pt x="629920" y="512318"/>
                  </a:lnTo>
                  <a:cubicBezTo>
                    <a:pt x="629920" y="577215"/>
                    <a:pt x="577342" y="629920"/>
                    <a:pt x="512318" y="629920"/>
                  </a:cubicBezTo>
                  <a:lnTo>
                    <a:pt x="117602" y="629920"/>
                  </a:lnTo>
                  <a:cubicBezTo>
                    <a:pt x="52578" y="629793"/>
                    <a:pt x="0" y="577215"/>
                    <a:pt x="0" y="512318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998668" y="1799558"/>
            <a:ext cx="290360" cy="362988"/>
            <a:chOff x="0" y="0"/>
            <a:chExt cx="387147" cy="483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7152" cy="483989"/>
            </a:xfrm>
            <a:custGeom>
              <a:avLst/>
              <a:gdLst/>
              <a:ahLst/>
              <a:cxnLst/>
              <a:rect l="l" t="t" r="r" b="b"/>
              <a:pathLst>
                <a:path w="387152" h="483989">
                  <a:moveTo>
                    <a:pt x="0" y="0"/>
                  </a:moveTo>
                  <a:lnTo>
                    <a:pt x="387152" y="0"/>
                  </a:lnTo>
                  <a:lnTo>
                    <a:pt x="387152" y="483989"/>
                  </a:lnTo>
                  <a:lnTo>
                    <a:pt x="0" y="4839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94" r="-110393" b="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387147" cy="48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95207" y="1810788"/>
            <a:ext cx="2420093" cy="31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64146" y="2188521"/>
            <a:ext cx="5651154" cy="2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9"/>
              </a:lnSpc>
            </a:pPr>
            <a:r>
              <a:rPr lang="en-US" sz="16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Launch VITamin MOM Platform — conversational AI &amp; pilot studies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46702" y="3072413"/>
            <a:ext cx="617039" cy="28575"/>
            <a:chOff x="0" y="0"/>
            <a:chExt cx="822719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2706" cy="38100"/>
            </a:xfrm>
            <a:custGeom>
              <a:avLst/>
              <a:gdLst/>
              <a:ahLst/>
              <a:cxnLst/>
              <a:rect l="l" t="t" r="r" b="b"/>
              <a:pathLst>
                <a:path w="82270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3656" y="0"/>
                  </a:lnTo>
                  <a:cubicBezTo>
                    <a:pt x="814197" y="0"/>
                    <a:pt x="822706" y="8509"/>
                    <a:pt x="822706" y="19050"/>
                  </a:cubicBezTo>
                  <a:cubicBezTo>
                    <a:pt x="822706" y="29591"/>
                    <a:pt x="814197" y="38100"/>
                    <a:pt x="80365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07666" y="2850509"/>
            <a:ext cx="472383" cy="472383"/>
            <a:chOff x="0" y="0"/>
            <a:chExt cx="629844" cy="6298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512318" y="0"/>
                  </a:lnTo>
                  <a:cubicBezTo>
                    <a:pt x="577215" y="0"/>
                    <a:pt x="629920" y="52578"/>
                    <a:pt x="629920" y="117602"/>
                  </a:cubicBezTo>
                  <a:lnTo>
                    <a:pt x="629920" y="512318"/>
                  </a:lnTo>
                  <a:cubicBezTo>
                    <a:pt x="629920" y="577215"/>
                    <a:pt x="577342" y="629920"/>
                    <a:pt x="512318" y="629920"/>
                  </a:cubicBezTo>
                  <a:lnTo>
                    <a:pt x="117602" y="629920"/>
                  </a:lnTo>
                  <a:cubicBezTo>
                    <a:pt x="52578" y="629793"/>
                    <a:pt x="0" y="577215"/>
                    <a:pt x="0" y="512318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998668" y="2905201"/>
            <a:ext cx="290360" cy="362988"/>
            <a:chOff x="0" y="0"/>
            <a:chExt cx="387147" cy="483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7152" cy="483989"/>
            </a:xfrm>
            <a:custGeom>
              <a:avLst/>
              <a:gdLst/>
              <a:ahLst/>
              <a:cxnLst/>
              <a:rect l="l" t="t" r="r" b="b"/>
              <a:pathLst>
                <a:path w="387152" h="483989">
                  <a:moveTo>
                    <a:pt x="0" y="0"/>
                  </a:moveTo>
                  <a:lnTo>
                    <a:pt x="387152" y="0"/>
                  </a:lnTo>
                  <a:lnTo>
                    <a:pt x="387152" y="483989"/>
                  </a:lnTo>
                  <a:lnTo>
                    <a:pt x="0" y="4839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94" r="-110393" b="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387147" cy="48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172405" y="2916431"/>
            <a:ext cx="2420093" cy="31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2027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72405" y="3294164"/>
            <a:ext cx="5651306" cy="2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Wearable integration and expanded monitoring features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323955" y="4071938"/>
            <a:ext cx="617039" cy="28575"/>
            <a:chOff x="0" y="0"/>
            <a:chExt cx="822719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706" cy="38100"/>
            </a:xfrm>
            <a:custGeom>
              <a:avLst/>
              <a:gdLst/>
              <a:ahLst/>
              <a:cxnLst/>
              <a:rect l="l" t="t" r="r" b="b"/>
              <a:pathLst>
                <a:path w="82270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3656" y="0"/>
                  </a:lnTo>
                  <a:cubicBezTo>
                    <a:pt x="814197" y="0"/>
                    <a:pt x="822706" y="8509"/>
                    <a:pt x="822706" y="19050"/>
                  </a:cubicBezTo>
                  <a:cubicBezTo>
                    <a:pt x="822706" y="29591"/>
                    <a:pt x="814197" y="38100"/>
                    <a:pt x="80365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907666" y="3850034"/>
            <a:ext cx="472383" cy="472383"/>
            <a:chOff x="0" y="0"/>
            <a:chExt cx="629844" cy="6298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512318" y="0"/>
                  </a:lnTo>
                  <a:cubicBezTo>
                    <a:pt x="577215" y="0"/>
                    <a:pt x="629920" y="52578"/>
                    <a:pt x="629920" y="117602"/>
                  </a:cubicBezTo>
                  <a:lnTo>
                    <a:pt x="629920" y="512318"/>
                  </a:lnTo>
                  <a:cubicBezTo>
                    <a:pt x="629920" y="577215"/>
                    <a:pt x="577342" y="629920"/>
                    <a:pt x="512318" y="629920"/>
                  </a:cubicBezTo>
                  <a:lnTo>
                    <a:pt x="117602" y="629920"/>
                  </a:lnTo>
                  <a:cubicBezTo>
                    <a:pt x="52578" y="629793"/>
                    <a:pt x="0" y="577215"/>
                    <a:pt x="0" y="512318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998668" y="3904726"/>
            <a:ext cx="290360" cy="362988"/>
            <a:chOff x="0" y="0"/>
            <a:chExt cx="387147" cy="4839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7152" cy="483989"/>
            </a:xfrm>
            <a:custGeom>
              <a:avLst/>
              <a:gdLst/>
              <a:ahLst/>
              <a:cxnLst/>
              <a:rect l="l" t="t" r="r" b="b"/>
              <a:pathLst>
                <a:path w="387152" h="483989">
                  <a:moveTo>
                    <a:pt x="0" y="0"/>
                  </a:moveTo>
                  <a:lnTo>
                    <a:pt x="387152" y="0"/>
                  </a:lnTo>
                  <a:lnTo>
                    <a:pt x="387152" y="483989"/>
                  </a:lnTo>
                  <a:lnTo>
                    <a:pt x="0" y="4839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94" r="-110393" b="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87147" cy="48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3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695207" y="3915966"/>
            <a:ext cx="2420093" cy="31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2028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64146" y="4293689"/>
            <a:ext cx="5651154" cy="2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9"/>
              </a:lnSpc>
            </a:pPr>
            <a:r>
              <a:rPr lang="en-US" sz="16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Hospital &amp; clinic partnerships — referral and clinician integrations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46702" y="5071615"/>
            <a:ext cx="617039" cy="28575"/>
            <a:chOff x="0" y="0"/>
            <a:chExt cx="822719" cy="381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2706" cy="38100"/>
            </a:xfrm>
            <a:custGeom>
              <a:avLst/>
              <a:gdLst/>
              <a:ahLst/>
              <a:cxnLst/>
              <a:rect l="l" t="t" r="r" b="b"/>
              <a:pathLst>
                <a:path w="82270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3656" y="0"/>
                  </a:lnTo>
                  <a:cubicBezTo>
                    <a:pt x="814197" y="0"/>
                    <a:pt x="822706" y="8509"/>
                    <a:pt x="822706" y="19050"/>
                  </a:cubicBezTo>
                  <a:cubicBezTo>
                    <a:pt x="822706" y="29591"/>
                    <a:pt x="814197" y="38100"/>
                    <a:pt x="80365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8907666" y="4849711"/>
            <a:ext cx="472383" cy="472383"/>
            <a:chOff x="0" y="0"/>
            <a:chExt cx="629844" cy="6298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512318" y="0"/>
                  </a:lnTo>
                  <a:cubicBezTo>
                    <a:pt x="577215" y="0"/>
                    <a:pt x="629920" y="52578"/>
                    <a:pt x="629920" y="117602"/>
                  </a:cubicBezTo>
                  <a:lnTo>
                    <a:pt x="629920" y="512318"/>
                  </a:lnTo>
                  <a:cubicBezTo>
                    <a:pt x="629920" y="577215"/>
                    <a:pt x="577342" y="629920"/>
                    <a:pt x="512318" y="629920"/>
                  </a:cubicBezTo>
                  <a:lnTo>
                    <a:pt x="117602" y="629920"/>
                  </a:lnTo>
                  <a:cubicBezTo>
                    <a:pt x="52578" y="629793"/>
                    <a:pt x="0" y="577215"/>
                    <a:pt x="0" y="512318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8998668" y="4904403"/>
            <a:ext cx="290360" cy="362988"/>
            <a:chOff x="0" y="0"/>
            <a:chExt cx="387147" cy="4839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7152" cy="483989"/>
            </a:xfrm>
            <a:custGeom>
              <a:avLst/>
              <a:gdLst/>
              <a:ahLst/>
              <a:cxnLst/>
              <a:rect l="l" t="t" r="r" b="b"/>
              <a:pathLst>
                <a:path w="387152" h="483989">
                  <a:moveTo>
                    <a:pt x="0" y="0"/>
                  </a:moveTo>
                  <a:lnTo>
                    <a:pt x="387152" y="0"/>
                  </a:lnTo>
                  <a:lnTo>
                    <a:pt x="387152" y="483989"/>
                  </a:lnTo>
                  <a:lnTo>
                    <a:pt x="0" y="4839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94" r="-110393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87147" cy="48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4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172405" y="4915643"/>
            <a:ext cx="2420093" cy="31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2029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72405" y="5293366"/>
            <a:ext cx="5651306" cy="2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predictive healthcare deployments for population health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323955" y="6071292"/>
            <a:ext cx="617039" cy="28575"/>
            <a:chOff x="0" y="0"/>
            <a:chExt cx="822719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2706" cy="38100"/>
            </a:xfrm>
            <a:custGeom>
              <a:avLst/>
              <a:gdLst/>
              <a:ahLst/>
              <a:cxnLst/>
              <a:rect l="l" t="t" r="r" b="b"/>
              <a:pathLst>
                <a:path w="82270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3656" y="0"/>
                  </a:lnTo>
                  <a:cubicBezTo>
                    <a:pt x="814197" y="0"/>
                    <a:pt x="822706" y="8509"/>
                    <a:pt x="822706" y="19050"/>
                  </a:cubicBezTo>
                  <a:cubicBezTo>
                    <a:pt x="822706" y="29591"/>
                    <a:pt x="814197" y="38100"/>
                    <a:pt x="80365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D1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8907666" y="5849388"/>
            <a:ext cx="472383" cy="472383"/>
            <a:chOff x="0" y="0"/>
            <a:chExt cx="629844" cy="6298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2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512318" y="0"/>
                  </a:lnTo>
                  <a:cubicBezTo>
                    <a:pt x="577215" y="0"/>
                    <a:pt x="629920" y="52578"/>
                    <a:pt x="629920" y="117602"/>
                  </a:cubicBezTo>
                  <a:lnTo>
                    <a:pt x="629920" y="512318"/>
                  </a:lnTo>
                  <a:cubicBezTo>
                    <a:pt x="629920" y="577215"/>
                    <a:pt x="577342" y="629920"/>
                    <a:pt x="512318" y="629920"/>
                  </a:cubicBezTo>
                  <a:lnTo>
                    <a:pt x="117602" y="629920"/>
                  </a:lnTo>
                  <a:cubicBezTo>
                    <a:pt x="52578" y="629793"/>
                    <a:pt x="0" y="577215"/>
                    <a:pt x="0" y="512318"/>
                  </a:cubicBezTo>
                  <a:close/>
                </a:path>
              </a:pathLst>
            </a:custGeom>
            <a:solidFill>
              <a:srgbClr val="F9D2EB"/>
            </a:solidFill>
            <a:ln w="9526" cap="sq">
              <a:solidFill>
                <a:srgbClr val="DFB8D1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8998668" y="5904090"/>
            <a:ext cx="290360" cy="362988"/>
            <a:chOff x="0" y="0"/>
            <a:chExt cx="387147" cy="4839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7152" cy="483989"/>
            </a:xfrm>
            <a:custGeom>
              <a:avLst/>
              <a:gdLst/>
              <a:ahLst/>
              <a:cxnLst/>
              <a:rect l="l" t="t" r="r" b="b"/>
              <a:pathLst>
                <a:path w="387152" h="483989">
                  <a:moveTo>
                    <a:pt x="0" y="0"/>
                  </a:moveTo>
                  <a:lnTo>
                    <a:pt x="387152" y="0"/>
                  </a:lnTo>
                  <a:lnTo>
                    <a:pt x="387152" y="483989"/>
                  </a:lnTo>
                  <a:lnTo>
                    <a:pt x="0" y="4839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94" r="-110393" b="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387147" cy="48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32338"/>
                  </a:solidFill>
                  <a:latin typeface="Noto Serif"/>
                  <a:ea typeface="Noto Serif"/>
                  <a:cs typeface="Noto Serif"/>
                  <a:sym typeface="Noto Serif"/>
                </a:rPr>
                <a:t>5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695207" y="5915320"/>
            <a:ext cx="2420093" cy="31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32338"/>
                </a:solidFill>
                <a:latin typeface="Noto Serif"/>
                <a:ea typeface="Noto Serif"/>
                <a:cs typeface="Noto Serif"/>
                <a:sym typeface="Noto Serif"/>
              </a:rPr>
              <a:t>2030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64146" y="6293044"/>
            <a:ext cx="5651154" cy="57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9"/>
              </a:lnSpc>
            </a:pPr>
            <a:r>
              <a:rPr lang="en-US" sz="1600">
                <a:solidFill>
                  <a:srgbClr val="4323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Nationwide healthcare ecosystem — insurer and public health integrations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2464146" y="9370971"/>
            <a:ext cx="13359555" cy="25594"/>
            <a:chOff x="0" y="0"/>
            <a:chExt cx="17812741" cy="3412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812638" cy="34038"/>
            </a:xfrm>
            <a:custGeom>
              <a:avLst/>
              <a:gdLst/>
              <a:ahLst/>
              <a:cxnLst/>
              <a:rect l="l" t="t" r="r" b="b"/>
              <a:pathLst>
                <a:path w="17812638" h="34038">
                  <a:moveTo>
                    <a:pt x="0" y="17018"/>
                  </a:moveTo>
                  <a:cubicBezTo>
                    <a:pt x="0" y="7620"/>
                    <a:pt x="7620" y="0"/>
                    <a:pt x="17018" y="0"/>
                  </a:cubicBezTo>
                  <a:lnTo>
                    <a:pt x="17795621" y="0"/>
                  </a:lnTo>
                  <a:cubicBezTo>
                    <a:pt x="17805019" y="0"/>
                    <a:pt x="17812638" y="7620"/>
                    <a:pt x="17812638" y="17018"/>
                  </a:cubicBezTo>
                  <a:cubicBezTo>
                    <a:pt x="17812638" y="26416"/>
                    <a:pt x="17805019" y="34036"/>
                    <a:pt x="17795621" y="34036"/>
                  </a:cubicBezTo>
                  <a:lnTo>
                    <a:pt x="17018" y="34036"/>
                  </a:lnTo>
                  <a:cubicBezTo>
                    <a:pt x="7620" y="34163"/>
                    <a:pt x="0" y="26543"/>
                    <a:pt x="0" y="17018"/>
                  </a:cubicBezTo>
                  <a:close/>
                </a:path>
              </a:pathLst>
            </a:custGeom>
            <a:solidFill>
              <a:srgbClr val="432338">
                <a:alpha val="24706"/>
              </a:srgbClr>
            </a:solidFill>
          </p:spPr>
        </p: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236511" y="9121565"/>
            <a:ext cx="11022789" cy="0"/>
          </a:xfrm>
          <a:prstGeom prst="line">
            <a:avLst/>
          </a:prstGeom>
          <a:ln w="19050" cap="flat">
            <a:solidFill>
              <a:srgbClr val="F00BE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6056076"/>
            <a:ext cx="5991987" cy="3976500"/>
          </a:xfrm>
          <a:custGeom>
            <a:avLst/>
            <a:gdLst/>
            <a:ahLst/>
            <a:cxnLst/>
            <a:rect l="l" t="t" r="r" b="b"/>
            <a:pathLst>
              <a:path w="5991987" h="3976500">
                <a:moveTo>
                  <a:pt x="0" y="0"/>
                </a:moveTo>
                <a:lnTo>
                  <a:pt x="5991987" y="0"/>
                </a:lnTo>
                <a:lnTo>
                  <a:pt x="5991987" y="3976501"/>
                </a:lnTo>
                <a:lnTo>
                  <a:pt x="0" y="397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80164" y="0"/>
            <a:ext cx="5607836" cy="3736221"/>
          </a:xfrm>
          <a:custGeom>
            <a:avLst/>
            <a:gdLst/>
            <a:ahLst/>
            <a:cxnLst/>
            <a:rect l="l" t="t" r="r" b="b"/>
            <a:pathLst>
              <a:path w="5607836" h="3736221">
                <a:moveTo>
                  <a:pt x="0" y="0"/>
                </a:moveTo>
                <a:lnTo>
                  <a:pt x="5607836" y="0"/>
                </a:lnTo>
                <a:lnTo>
                  <a:pt x="5607836" y="3736221"/>
                </a:lnTo>
                <a:lnTo>
                  <a:pt x="0" y="3736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8933" y="799746"/>
            <a:ext cx="10990921" cy="151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7"/>
              </a:lnSpc>
            </a:pPr>
            <a:r>
              <a:rPr lang="en-US" sz="11227">
                <a:solidFill>
                  <a:srgbClr val="FFFEF5"/>
                </a:solidFill>
                <a:latin typeface="Telegraf"/>
                <a:ea typeface="Telegraf"/>
                <a:cs typeface="Telegraf"/>
                <a:sym typeface="Telegraf"/>
              </a:rPr>
              <a:t>THANK</a:t>
            </a:r>
            <a:r>
              <a:rPr lang="en-US" sz="11227">
                <a:solidFill>
                  <a:srgbClr val="51553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1227">
                <a:solidFill>
                  <a:srgbClr val="F00BE2"/>
                </a:solidFill>
                <a:latin typeface="Telegraf"/>
                <a:ea typeface="Telegraf"/>
                <a:cs typeface="Telegraf"/>
                <a:sym typeface="Telegraf"/>
              </a:rPr>
              <a:t>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4620" y="2278912"/>
            <a:ext cx="12425544" cy="131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4312">
                <a:solidFill>
                  <a:srgbClr val="F56904"/>
                </a:solidFill>
                <a:latin typeface="Telegraf"/>
                <a:ea typeface="Telegraf"/>
                <a:cs typeface="Telegraf"/>
                <a:sym typeface="Telegraf"/>
              </a:rPr>
              <a:t>"Be the reason someone chooses their </a:t>
            </a:r>
            <a:r>
              <a:rPr lang="en-US" sz="4312">
                <a:solidFill>
                  <a:srgbClr val="F00BE2"/>
                </a:solidFill>
                <a:latin typeface="Telegraf"/>
                <a:ea typeface="Telegraf"/>
                <a:cs typeface="Telegraf"/>
                <a:sym typeface="Telegraf"/>
              </a:rPr>
              <a:t>health</a:t>
            </a:r>
            <a:r>
              <a:rPr lang="en-US" sz="4312">
                <a:solidFill>
                  <a:srgbClr val="F56904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4312">
                <a:solidFill>
                  <a:srgbClr val="F00BE2"/>
                </a:solidFill>
                <a:latin typeface="Telegraf"/>
                <a:ea typeface="Telegraf"/>
                <a:cs typeface="Telegraf"/>
                <a:sym typeface="Telegraf"/>
              </a:rPr>
              <a:t>today</a:t>
            </a:r>
            <a:r>
              <a:rPr lang="en-US" sz="431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 not tomorrow."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71260" y="9305283"/>
            <a:ext cx="588804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00BE2"/>
                </a:solidFill>
                <a:latin typeface="Telegraf"/>
                <a:ea typeface="Telegraf"/>
                <a:cs typeface="Telegraf"/>
                <a:sym typeface="Telegraf"/>
              </a:rPr>
              <a:t>CTRL+</a:t>
            </a:r>
            <a:r>
              <a:rPr lang="en-US" sz="1800" b="1">
                <a:solidFill>
                  <a:srgbClr val="F56904"/>
                </a:solidFill>
                <a:latin typeface="Telegraf Bold"/>
                <a:ea typeface="Telegraf Bold"/>
                <a:cs typeface="Telegraf Bold"/>
                <a:sym typeface="Telegraf Bold"/>
              </a:rPr>
              <a:t>FIRE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50735" y="5367196"/>
            <a:ext cx="10098237" cy="3059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spcBef>
                <a:spcPct val="0"/>
              </a:spcBef>
            </a:pPr>
            <a:r>
              <a:rPr lang="en-US" sz="2786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Made with 💖 by Team:</a:t>
            </a:r>
            <a:r>
              <a:rPr lang="en-US" sz="2786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786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CTRL + </a:t>
            </a:r>
            <a:r>
              <a:rPr lang="en-US" sz="2786">
                <a:solidFill>
                  <a:srgbClr val="F56904"/>
                </a:solidFill>
                <a:latin typeface="Noto Serif"/>
                <a:ea typeface="Noto Serif"/>
                <a:cs typeface="Noto Serif"/>
                <a:sym typeface="Noto Serif"/>
              </a:rPr>
              <a:t>FIRE</a:t>
            </a:r>
          </a:p>
          <a:p>
            <a:pPr algn="ctr">
              <a:lnSpc>
                <a:spcPts val="3477"/>
              </a:lnSpc>
              <a:spcBef>
                <a:spcPct val="0"/>
              </a:spcBef>
            </a:pPr>
            <a:endParaRPr lang="en-US" sz="2786">
              <a:solidFill>
                <a:srgbClr val="F56904"/>
              </a:solidFill>
              <a:latin typeface="Noto Serif"/>
              <a:ea typeface="Noto Serif"/>
              <a:cs typeface="Noto Serif"/>
              <a:sym typeface="Noto Serif"/>
            </a:endParaRPr>
          </a:p>
          <a:p>
            <a:pPr algn="l">
              <a:lnSpc>
                <a:spcPts val="3477"/>
              </a:lnSpc>
              <a:spcBef>
                <a:spcPct val="0"/>
              </a:spcBef>
            </a:pPr>
            <a:endParaRPr lang="en-US" sz="2786">
              <a:solidFill>
                <a:srgbClr val="F56904"/>
              </a:solidFill>
              <a:latin typeface="Noto Serif"/>
              <a:ea typeface="Noto Serif"/>
              <a:cs typeface="Noto Serif"/>
              <a:sym typeface="Noto Serif"/>
            </a:endParaRPr>
          </a:p>
          <a:p>
            <a:pPr algn="just">
              <a:lnSpc>
                <a:spcPts val="3477"/>
              </a:lnSpc>
            </a:pPr>
            <a:r>
              <a:rPr lang="en-US" sz="2786">
                <a:solidFill>
                  <a:srgbClr val="F56904"/>
                </a:solidFill>
                <a:latin typeface="Noto Serif"/>
                <a:ea typeface="Noto Serif"/>
                <a:cs typeface="Noto Serif"/>
                <a:sym typeface="Noto Serif"/>
              </a:rPr>
              <a:t>1.Tanishq Srivastava - Research &amp; Content</a:t>
            </a:r>
          </a:p>
          <a:p>
            <a:pPr algn="just">
              <a:lnSpc>
                <a:spcPts val="3477"/>
              </a:lnSpc>
            </a:pPr>
            <a:r>
              <a:rPr lang="en-US" sz="2786">
                <a:solidFill>
                  <a:srgbClr val="FFFFFF"/>
                </a:solidFill>
                <a:latin typeface="Noto Serif"/>
                <a:ea typeface="Noto Serif"/>
                <a:cs typeface="Noto Serif"/>
                <a:sym typeface="Noto Serif"/>
              </a:rPr>
              <a:t>2.Parth Singh - Development &amp; Deployment</a:t>
            </a:r>
          </a:p>
          <a:p>
            <a:pPr algn="just">
              <a:lnSpc>
                <a:spcPts val="3477"/>
              </a:lnSpc>
            </a:pPr>
            <a:r>
              <a:rPr lang="en-US" sz="2786">
                <a:solidFill>
                  <a:srgbClr val="F00BE2"/>
                </a:solidFill>
                <a:latin typeface="Noto Serif"/>
                <a:ea typeface="Noto Serif"/>
                <a:cs typeface="Noto Serif"/>
                <a:sym typeface="Noto Serif"/>
              </a:rPr>
              <a:t>3.Arima Srivastava - Design &amp; Documentation</a:t>
            </a:r>
          </a:p>
          <a:p>
            <a:pPr algn="just">
              <a:lnSpc>
                <a:spcPts val="3477"/>
              </a:lnSpc>
            </a:pPr>
            <a:endParaRPr lang="en-US" sz="2786">
              <a:solidFill>
                <a:srgbClr val="F00BE2"/>
              </a:solidFill>
              <a:latin typeface="Noto Serif"/>
              <a:ea typeface="Noto Serif"/>
              <a:cs typeface="Noto Serif"/>
              <a:sym typeface="Noto Serif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601</Words>
  <Application>Microsoft Office PowerPoint</Application>
  <PresentationFormat>Custom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Telegraf</vt:lpstr>
      <vt:lpstr>Sugo Display Bold Italics</vt:lpstr>
      <vt:lpstr>Montserrat</vt:lpstr>
      <vt:lpstr>Telegraf Bold</vt:lpstr>
      <vt:lpstr>Canva Sans</vt:lpstr>
      <vt:lpstr>Source Sans 3 Bold</vt:lpstr>
      <vt:lpstr>Sugo Display</vt:lpstr>
      <vt:lpstr>Source Sans 3</vt:lpstr>
      <vt:lpstr>Calibri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 + FIRE presents VITamin MOM</dc:title>
  <cp:lastModifiedBy>Tanishq Srivastava</cp:lastModifiedBy>
  <cp:revision>1</cp:revision>
  <dcterms:created xsi:type="dcterms:W3CDTF">2006-08-16T00:00:00Z</dcterms:created>
  <dcterms:modified xsi:type="dcterms:W3CDTF">2026-06-20T04:28:41Z</dcterms:modified>
  <dc:identifier>DAHM7y-RYKw</dc:identifier>
</cp:coreProperties>
</file>